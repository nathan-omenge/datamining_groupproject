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ileron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Aileron" charset="1" panose="00000500000000000000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76775">
            <a:off x="-6141645" y="-3650102"/>
            <a:ext cx="18272703" cy="17940472"/>
          </a:xfrm>
          <a:custGeom>
            <a:avLst/>
            <a:gdLst/>
            <a:ahLst/>
            <a:cxnLst/>
            <a:rect r="r" b="b" t="t" l="l"/>
            <a:pathLst>
              <a:path h="17940472" w="18272703">
                <a:moveTo>
                  <a:pt x="0" y="0"/>
                </a:moveTo>
                <a:lnTo>
                  <a:pt x="18272704" y="0"/>
                </a:lnTo>
                <a:lnTo>
                  <a:pt x="18272704" y="17940473"/>
                </a:lnTo>
                <a:lnTo>
                  <a:pt x="0" y="17940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302134">
            <a:off x="13509748" y="-4275200"/>
            <a:ext cx="8172698" cy="8024104"/>
          </a:xfrm>
          <a:custGeom>
            <a:avLst/>
            <a:gdLst/>
            <a:ahLst/>
            <a:cxnLst/>
            <a:rect r="r" b="b" t="t" l="l"/>
            <a:pathLst>
              <a:path h="8024104" w="8172698">
                <a:moveTo>
                  <a:pt x="0" y="0"/>
                </a:moveTo>
                <a:lnTo>
                  <a:pt x="8172698" y="0"/>
                </a:lnTo>
                <a:lnTo>
                  <a:pt x="8172698" y="8024104"/>
                </a:lnTo>
                <a:lnTo>
                  <a:pt x="0" y="8024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51018" y="3831136"/>
            <a:ext cx="8408282" cy="5427164"/>
          </a:xfrm>
          <a:custGeom>
            <a:avLst/>
            <a:gdLst/>
            <a:ahLst/>
            <a:cxnLst/>
            <a:rect r="r" b="b" t="t" l="l"/>
            <a:pathLst>
              <a:path h="5427164" w="8408282">
                <a:moveTo>
                  <a:pt x="0" y="0"/>
                </a:moveTo>
                <a:lnTo>
                  <a:pt x="8408282" y="0"/>
                </a:lnTo>
                <a:lnTo>
                  <a:pt x="8408282" y="5427164"/>
                </a:lnTo>
                <a:lnTo>
                  <a:pt x="0" y="5427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215099" y="380518"/>
            <a:ext cx="3630497" cy="839163"/>
            <a:chOff x="0" y="0"/>
            <a:chExt cx="956180" cy="221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6180" cy="221014"/>
            </a:xfrm>
            <a:custGeom>
              <a:avLst/>
              <a:gdLst/>
              <a:ahLst/>
              <a:cxnLst/>
              <a:rect r="r" b="b" t="t" l="l"/>
              <a:pathLst>
                <a:path h="221014" w="956180">
                  <a:moveTo>
                    <a:pt x="108756" y="0"/>
                  </a:moveTo>
                  <a:lnTo>
                    <a:pt x="847424" y="0"/>
                  </a:lnTo>
                  <a:cubicBezTo>
                    <a:pt x="876268" y="0"/>
                    <a:pt x="903931" y="11458"/>
                    <a:pt x="924326" y="31854"/>
                  </a:cubicBezTo>
                  <a:cubicBezTo>
                    <a:pt x="944722" y="52250"/>
                    <a:pt x="956180" y="79912"/>
                    <a:pt x="956180" y="108756"/>
                  </a:cubicBezTo>
                  <a:lnTo>
                    <a:pt x="956180" y="112258"/>
                  </a:lnTo>
                  <a:cubicBezTo>
                    <a:pt x="956180" y="141102"/>
                    <a:pt x="944722" y="168765"/>
                    <a:pt x="924326" y="189160"/>
                  </a:cubicBezTo>
                  <a:cubicBezTo>
                    <a:pt x="903931" y="209556"/>
                    <a:pt x="876268" y="221014"/>
                    <a:pt x="847424" y="221014"/>
                  </a:cubicBezTo>
                  <a:lnTo>
                    <a:pt x="108756" y="221014"/>
                  </a:lnTo>
                  <a:cubicBezTo>
                    <a:pt x="79912" y="221014"/>
                    <a:pt x="52250" y="209556"/>
                    <a:pt x="31854" y="189160"/>
                  </a:cubicBezTo>
                  <a:cubicBezTo>
                    <a:pt x="11458" y="168765"/>
                    <a:pt x="0" y="141102"/>
                    <a:pt x="0" y="112258"/>
                  </a:cubicBezTo>
                  <a:lnTo>
                    <a:pt x="0" y="108756"/>
                  </a:lnTo>
                  <a:cubicBezTo>
                    <a:pt x="0" y="79912"/>
                    <a:pt x="11458" y="52250"/>
                    <a:pt x="31854" y="31854"/>
                  </a:cubicBezTo>
                  <a:cubicBezTo>
                    <a:pt x="52250" y="11458"/>
                    <a:pt x="79912" y="0"/>
                    <a:pt x="10875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56180" cy="259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6782502">
            <a:off x="-3218386" y="6638745"/>
            <a:ext cx="8172698" cy="8024104"/>
          </a:xfrm>
          <a:custGeom>
            <a:avLst/>
            <a:gdLst/>
            <a:ahLst/>
            <a:cxnLst/>
            <a:rect r="r" b="b" t="t" l="l"/>
            <a:pathLst>
              <a:path h="8024104" w="8172698">
                <a:moveTo>
                  <a:pt x="0" y="0"/>
                </a:moveTo>
                <a:lnTo>
                  <a:pt x="8172698" y="0"/>
                </a:lnTo>
                <a:lnTo>
                  <a:pt x="8172698" y="8024104"/>
                </a:lnTo>
                <a:lnTo>
                  <a:pt x="0" y="8024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6219" y="2153575"/>
            <a:ext cx="9728780" cy="249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900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Personal Finance Capstone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01395" y="485775"/>
            <a:ext cx="245790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E2B75F"/>
                </a:solidFill>
                <a:latin typeface="Poppins"/>
                <a:ea typeface="Poppins"/>
                <a:cs typeface="Poppins"/>
                <a:sym typeface="Poppins"/>
              </a:rPr>
              <a:t>DSA 2040-A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00858" y="1219719"/>
            <a:ext cx="3618053" cy="838606"/>
          </a:xfrm>
          <a:custGeom>
            <a:avLst/>
            <a:gdLst/>
            <a:ahLst/>
            <a:cxnLst/>
            <a:rect r="r" b="b" t="t" l="l"/>
            <a:pathLst>
              <a:path h="838606" w="3618053">
                <a:moveTo>
                  <a:pt x="0" y="0"/>
                </a:moveTo>
                <a:lnTo>
                  <a:pt x="3618052" y="0"/>
                </a:lnTo>
                <a:lnTo>
                  <a:pt x="3618052" y="838606"/>
                </a:lnTo>
                <a:lnTo>
                  <a:pt x="0" y="838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t="0" r="-89665" b="-712135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7232022" y="5647239"/>
            <a:ext cx="2135576" cy="494992"/>
          </a:xfrm>
          <a:custGeom>
            <a:avLst/>
            <a:gdLst/>
            <a:ahLst/>
            <a:cxnLst/>
            <a:rect r="r" b="b" t="t" l="l"/>
            <a:pathLst>
              <a:path h="494992" w="2135576">
                <a:moveTo>
                  <a:pt x="2135576" y="0"/>
                </a:moveTo>
                <a:lnTo>
                  <a:pt x="0" y="0"/>
                </a:lnTo>
                <a:lnTo>
                  <a:pt x="0" y="494992"/>
                </a:lnTo>
                <a:lnTo>
                  <a:pt x="2135576" y="494992"/>
                </a:lnTo>
                <a:lnTo>
                  <a:pt x="213557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t="0" r="-89665" b="-712135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61358" y="-1171957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68673" y="694188"/>
            <a:ext cx="2886413" cy="669024"/>
          </a:xfrm>
          <a:custGeom>
            <a:avLst/>
            <a:gdLst/>
            <a:ahLst/>
            <a:cxnLst/>
            <a:rect r="r" b="b" t="t" l="l"/>
            <a:pathLst>
              <a:path h="669024" w="2886413">
                <a:moveTo>
                  <a:pt x="0" y="0"/>
                </a:moveTo>
                <a:lnTo>
                  <a:pt x="2886412" y="0"/>
                </a:lnTo>
                <a:lnTo>
                  <a:pt x="2886412" y="669024"/>
                </a:lnTo>
                <a:lnTo>
                  <a:pt x="0" y="669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615" t="0" r="-89665" b="-71213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85961" y="8185354"/>
            <a:ext cx="2477320" cy="2904445"/>
          </a:xfrm>
          <a:custGeom>
            <a:avLst/>
            <a:gdLst/>
            <a:ahLst/>
            <a:cxnLst/>
            <a:rect r="r" b="b" t="t" l="l"/>
            <a:pathLst>
              <a:path h="2904445" w="2477320">
                <a:moveTo>
                  <a:pt x="0" y="0"/>
                </a:moveTo>
                <a:lnTo>
                  <a:pt x="2477321" y="0"/>
                </a:lnTo>
                <a:lnTo>
                  <a:pt x="2477321" y="2904445"/>
                </a:lnTo>
                <a:lnTo>
                  <a:pt x="0" y="29044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16919" y="1363212"/>
            <a:ext cx="6873331" cy="8591663"/>
          </a:xfrm>
          <a:custGeom>
            <a:avLst/>
            <a:gdLst/>
            <a:ahLst/>
            <a:cxnLst/>
            <a:rect r="r" b="b" t="t" l="l"/>
            <a:pathLst>
              <a:path h="8591663" w="6873331">
                <a:moveTo>
                  <a:pt x="0" y="0"/>
                </a:moveTo>
                <a:lnTo>
                  <a:pt x="6873331" y="0"/>
                </a:lnTo>
                <a:lnTo>
                  <a:pt x="6873331" y="8591663"/>
                </a:lnTo>
                <a:lnTo>
                  <a:pt x="0" y="85916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40426"/>
            <a:ext cx="6574434" cy="268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69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Project Scope and Data Characteristics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22447"/>
            <a:ext cx="7110740" cy="5736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6"/>
              </a:lnSpc>
            </a:pPr>
            <a:r>
              <a:rPr lang="en-US" sz="35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analyzed 15,658 financial transactions from 192 users spanning four years (2019-2022), representing $195.4 million in total transaction volume across 212 different spending categories.</a:t>
            </a:r>
          </a:p>
          <a:p>
            <a:pPr algn="l">
              <a:lnSpc>
                <a:spcPts val="5006"/>
              </a:lnSpc>
            </a:pPr>
          </a:p>
          <a:p>
            <a:pPr algn="l">
              <a:lnSpc>
                <a:spcPts val="500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61358" y="-1171957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28095" y="1724025"/>
            <a:ext cx="11334305" cy="2473908"/>
          </a:xfrm>
          <a:custGeom>
            <a:avLst/>
            <a:gdLst/>
            <a:ahLst/>
            <a:cxnLst/>
            <a:rect r="r" b="b" t="t" l="l"/>
            <a:pathLst>
              <a:path h="2473908" w="11334305">
                <a:moveTo>
                  <a:pt x="0" y="0"/>
                </a:moveTo>
                <a:lnTo>
                  <a:pt x="11334305" y="0"/>
                </a:lnTo>
                <a:lnTo>
                  <a:pt x="11334305" y="2473908"/>
                </a:lnTo>
                <a:lnTo>
                  <a:pt x="0" y="24739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983" r="0" b="-1599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3355"/>
            <a:ext cx="15733096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Week One: Dataset Selection and Challenges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472290" y="3106811"/>
            <a:ext cx="7110740" cy="804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6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Data Quality Problems We Identified:</a:t>
            </a:r>
          </a:p>
          <a:p>
            <a:pPr algn="l" marL="431801" indent="-215900" lvl="1">
              <a:lnSpc>
                <a:spcPts val="3980"/>
              </a:lnSpc>
              <a:buAutoNum type="arabicPeriod" startAt="1"/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ate inconsistencies across six different formats: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from natural language like "December 22 2021" to numeric formats like "03/24/2022" and abbreviated versions like "12-07-22"</a:t>
            </a:r>
          </a:p>
          <a:p>
            <a:pPr algn="l" marL="431801" indent="-215900" lvl="1">
              <a:lnSpc>
                <a:spcPts val="3980"/>
              </a:lnSpc>
              <a:buAutoNum type="arabicPeriod" startAt="1"/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Currency Formatting Issues: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Mixed dollar signs, Rupee symbols and comma separators</a:t>
            </a:r>
          </a:p>
          <a:p>
            <a:pPr algn="l" marL="431801" indent="-215900" lvl="1">
              <a:lnSpc>
                <a:spcPts val="3980"/>
              </a:lnSpc>
              <a:buAutoNum type="arabicPeriod" startAt="1"/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Category Naming Variations: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212 different spellings and abbreviations</a:t>
            </a:r>
          </a:p>
          <a:p>
            <a:pPr algn="l" marL="431801" indent="-215900" lvl="1">
              <a:lnSpc>
                <a:spcPts val="3980"/>
              </a:lnSpc>
              <a:buAutoNum type="arabicPeriod" startAt="1"/>
            </a:pPr>
            <a:r>
              <a:rPr lang="en-US" b="true" sz="2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Values</a:t>
            </a:r>
          </a:p>
          <a:p>
            <a:pPr algn="l">
              <a:lnSpc>
                <a:spcPts val="5006"/>
              </a:lnSpc>
            </a:pPr>
          </a:p>
          <a:p>
            <a:pPr algn="l">
              <a:lnSpc>
                <a:spcPts val="500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06811"/>
            <a:ext cx="7110740" cy="653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6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600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Dataset Selected :</a:t>
            </a:r>
          </a:p>
          <a:p>
            <a:pPr algn="l">
              <a:lnSpc>
                <a:spcPts val="6000"/>
              </a:lnSpc>
            </a:pPr>
          </a:p>
          <a:p>
            <a:pPr algn="l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selected a synthetic personal finance dataset that intentionally included data quality issues to simulate real-world challenges.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5006"/>
              </a:lnSpc>
            </a:pPr>
          </a:p>
          <a:p>
            <a:pPr algn="l">
              <a:lnSpc>
                <a:spcPts val="500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61358" y="-1171957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4300"/>
            <a:ext cx="15733096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Week Two: Data Cleaning and Feature Engineering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65580" y="885825"/>
            <a:ext cx="7110740" cy="1053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5"/>
              </a:lnSpc>
            </a:pPr>
          </a:p>
          <a:p>
            <a:pPr algn="l">
              <a:lnSpc>
                <a:spcPts val="4560"/>
              </a:lnSpc>
            </a:pPr>
          </a:p>
          <a:p>
            <a:pPr algn="l">
              <a:lnSpc>
                <a:spcPts val="456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algn="l">
              <a:lnSpc>
                <a:spcPts val="4560"/>
              </a:lnSpc>
            </a:pPr>
          </a:p>
          <a:p>
            <a:pPr algn="l">
              <a:lnSpc>
                <a:spcPts val="4560"/>
              </a:lnSpc>
            </a:pPr>
            <a:r>
              <a:rPr lang="en-US" sz="3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Six new Calculated Fields:</a:t>
            </a:r>
          </a:p>
          <a:p>
            <a:pPr algn="l" marL="539749" indent="-269875" lvl="1">
              <a:lnSpc>
                <a:spcPts val="37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user_transaction_frequency: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Transactions per user count</a:t>
            </a:r>
          </a:p>
          <a:p>
            <a:pPr algn="l" marL="539749" indent="-269875" lvl="1">
              <a:lnSpc>
                <a:spcPts val="37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user_total_spending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Sum of amounts per user</a:t>
            </a:r>
          </a:p>
          <a:p>
            <a:pPr algn="l" marL="539749" indent="-269875" lvl="1">
              <a:lnSpc>
                <a:spcPts val="37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user_avg_transaction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Average transaction size per user</a:t>
            </a:r>
          </a:p>
          <a:p>
            <a:pPr algn="l" marL="539749" indent="-269875" lvl="1">
              <a:lnSpc>
                <a:spcPts val="37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user_expense_ratio 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Percentage of expenses vs income</a:t>
            </a:r>
          </a:p>
          <a:p>
            <a:pPr algn="l" marL="539749" indent="-269875" lvl="1">
              <a:lnSpc>
                <a:spcPts val="37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s_weekend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Binary weekend indicator (0/1)</a:t>
            </a:r>
          </a:p>
          <a:p>
            <a:pPr algn="l" marL="539749" indent="-269875" lvl="1">
              <a:lnSpc>
                <a:spcPts val="3799"/>
              </a:lnSpc>
              <a:buAutoNum type="arabicPeriod" startAt="1"/>
            </a:pPr>
            <a:r>
              <a:rPr lang="en-US" b="true" sz="24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amount_category: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Binned transaction sizes (Small/Medium/Large/Very Large/Extreme)</a:t>
            </a:r>
          </a:p>
          <a:p>
            <a:pPr algn="l">
              <a:lnSpc>
                <a:spcPts val="5435"/>
              </a:lnSpc>
            </a:pPr>
          </a:p>
          <a:p>
            <a:pPr algn="l">
              <a:lnSpc>
                <a:spcPts val="5435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7742" y="6686449"/>
            <a:ext cx="9707839" cy="2571851"/>
          </a:xfrm>
          <a:custGeom>
            <a:avLst/>
            <a:gdLst/>
            <a:ahLst/>
            <a:cxnLst/>
            <a:rect r="r" b="b" t="t" l="l"/>
            <a:pathLst>
              <a:path h="2571851" w="9707839">
                <a:moveTo>
                  <a:pt x="0" y="0"/>
                </a:moveTo>
                <a:lnTo>
                  <a:pt x="9707838" y="0"/>
                </a:lnTo>
                <a:lnTo>
                  <a:pt x="9707838" y="2571851"/>
                </a:lnTo>
                <a:lnTo>
                  <a:pt x="0" y="2571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322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9508" y="383961"/>
            <a:ext cx="7110740" cy="921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7"/>
              </a:lnSpc>
            </a:pPr>
          </a:p>
          <a:p>
            <a:pPr algn="l">
              <a:lnSpc>
                <a:spcPts val="6030"/>
              </a:lnSpc>
            </a:pPr>
          </a:p>
          <a:p>
            <a:pPr algn="l">
              <a:lnSpc>
                <a:spcPts val="5024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Dataset Cleaning :</a:t>
            </a:r>
          </a:p>
          <a:p>
            <a:pPr algn="l">
              <a:lnSpc>
                <a:spcPts val="5024"/>
              </a:lnSpc>
            </a:pPr>
          </a:p>
          <a:p>
            <a:pPr algn="l" marL="539749" indent="-269875" lvl="1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97.6% date parsing success (15,455/15,836 records)</a:t>
            </a:r>
          </a:p>
          <a:p>
            <a:pPr algn="l" marL="539749" indent="-269875" lvl="1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100% amount cleaning success</a:t>
            </a:r>
          </a:p>
          <a:p>
            <a:pPr algn="l" marL="539749" indent="-269875" lvl="1">
              <a:lnSpc>
                <a:spcPts val="50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Enhanced: 9 → 18 analytical features</a:t>
            </a:r>
          </a:p>
          <a:p>
            <a:pPr algn="l">
              <a:lnSpc>
                <a:spcPts val="4020"/>
              </a:lnSpc>
            </a:pPr>
          </a:p>
          <a:p>
            <a:pPr algn="l">
              <a:lnSpc>
                <a:spcPts val="6030"/>
              </a:lnSpc>
            </a:pPr>
          </a:p>
          <a:p>
            <a:pPr algn="l">
              <a:lnSpc>
                <a:spcPts val="6030"/>
              </a:lnSpc>
            </a:pPr>
          </a:p>
          <a:p>
            <a:pPr algn="l">
              <a:lnSpc>
                <a:spcPts val="7187"/>
              </a:lnSpc>
            </a:pPr>
          </a:p>
          <a:p>
            <a:pPr algn="l">
              <a:lnSpc>
                <a:spcPts val="718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61358" y="-1171957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28189" y="2792665"/>
            <a:ext cx="5470462" cy="5133513"/>
          </a:xfrm>
          <a:custGeom>
            <a:avLst/>
            <a:gdLst/>
            <a:ahLst/>
            <a:cxnLst/>
            <a:rect r="r" b="b" t="t" l="l"/>
            <a:pathLst>
              <a:path h="5133513" w="5470462">
                <a:moveTo>
                  <a:pt x="0" y="0"/>
                </a:moveTo>
                <a:lnTo>
                  <a:pt x="5470462" y="0"/>
                </a:lnTo>
                <a:lnTo>
                  <a:pt x="5470462" y="5133512"/>
                </a:lnTo>
                <a:lnTo>
                  <a:pt x="0" y="5133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37889" y="2895631"/>
            <a:ext cx="5250111" cy="4927579"/>
          </a:xfrm>
          <a:custGeom>
            <a:avLst/>
            <a:gdLst/>
            <a:ahLst/>
            <a:cxnLst/>
            <a:rect r="r" b="b" t="t" l="l"/>
            <a:pathLst>
              <a:path h="4927579" w="5250111">
                <a:moveTo>
                  <a:pt x="0" y="0"/>
                </a:moveTo>
                <a:lnTo>
                  <a:pt x="5250111" y="0"/>
                </a:lnTo>
                <a:lnTo>
                  <a:pt x="5250111" y="4927579"/>
                </a:lnTo>
                <a:lnTo>
                  <a:pt x="0" y="4927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4300"/>
            <a:ext cx="157330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Week Three: Exploratory Analysis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7449" y="-646261"/>
            <a:ext cx="7110740" cy="1331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7"/>
              </a:lnSpc>
            </a:pPr>
          </a:p>
          <a:p>
            <a:pPr algn="l">
              <a:lnSpc>
                <a:spcPts val="6030"/>
              </a:lnSpc>
            </a:pPr>
          </a:p>
          <a:p>
            <a:pPr algn="l">
              <a:lnSpc>
                <a:spcPts val="803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Data Exploration: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 Analysis: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Right-skewed amounts (mean $12,477 vs median $534)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Categorical Patterns: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4 main payment modes, Food &amp; Rent dominate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Temporal Insights: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April spending peaks ($18M), weekend $441 premium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Behavior: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85% expenses vs 15% income transactions</a:t>
            </a:r>
          </a:p>
          <a:p>
            <a:pPr algn="l">
              <a:lnSpc>
                <a:spcPts val="4020"/>
              </a:lnSpc>
            </a:pPr>
          </a:p>
          <a:p>
            <a:pPr algn="l">
              <a:lnSpc>
                <a:spcPts val="6030"/>
              </a:lnSpc>
            </a:pPr>
          </a:p>
          <a:p>
            <a:pPr algn="l">
              <a:lnSpc>
                <a:spcPts val="6030"/>
              </a:lnSpc>
            </a:pPr>
          </a:p>
          <a:p>
            <a:pPr algn="l">
              <a:lnSpc>
                <a:spcPts val="7187"/>
              </a:lnSpc>
            </a:pPr>
          </a:p>
          <a:p>
            <a:pPr algn="l">
              <a:lnSpc>
                <a:spcPts val="718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43481" y="1152031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19713" y="3049399"/>
            <a:ext cx="6636163" cy="6279469"/>
          </a:xfrm>
          <a:custGeom>
            <a:avLst/>
            <a:gdLst/>
            <a:ahLst/>
            <a:cxnLst/>
            <a:rect r="r" b="b" t="t" l="l"/>
            <a:pathLst>
              <a:path h="6279469" w="6636163">
                <a:moveTo>
                  <a:pt x="0" y="0"/>
                </a:moveTo>
                <a:lnTo>
                  <a:pt x="6636163" y="0"/>
                </a:lnTo>
                <a:lnTo>
                  <a:pt x="6636163" y="6279469"/>
                </a:lnTo>
                <a:lnTo>
                  <a:pt x="0" y="6279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4300"/>
            <a:ext cx="157330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Week Three: Statistical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9232" y="3346683"/>
            <a:ext cx="7110740" cy="544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Income vs Expense T-Test: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Highly significant (p &lt; 0.001)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Weekend vs Weekday T-Test: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Significant difference (p &lt; 0.05)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Category ANOVA: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Significant across spending types (p &lt; 0.001)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Payment-Transaction Chi-Square: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Strong associations (p &lt; 0.001)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232" y="1357248"/>
            <a:ext cx="7933074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Four Hypothesis Tests Conducted: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43481" y="776618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0" y="0"/>
                </a:lnTo>
                <a:lnTo>
                  <a:pt x="15359470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4300"/>
            <a:ext cx="157330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Week Four: Data Mining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39232" y="2702178"/>
            <a:ext cx="7110740" cy="613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Clustering: 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spending pattern discovery (4 meaningful segments)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 Classification: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Transaction categorization (35.5% accuracy)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Association Rule Mining: 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Spending behavior patterns and category associations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232" y="1357248"/>
            <a:ext cx="628840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Three Techniques Applied: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09850" y="1811591"/>
            <a:ext cx="9727459" cy="7222639"/>
          </a:xfrm>
          <a:custGeom>
            <a:avLst/>
            <a:gdLst/>
            <a:ahLst/>
            <a:cxnLst/>
            <a:rect r="r" b="b" t="t" l="l"/>
            <a:pathLst>
              <a:path h="7222639" w="9727459">
                <a:moveTo>
                  <a:pt x="0" y="0"/>
                </a:moveTo>
                <a:lnTo>
                  <a:pt x="9727459" y="0"/>
                </a:lnTo>
                <a:lnTo>
                  <a:pt x="9727459" y="7222638"/>
                </a:lnTo>
                <a:lnTo>
                  <a:pt x="0" y="722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43481" y="776618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0" y="0"/>
                </a:lnTo>
                <a:lnTo>
                  <a:pt x="15359470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4300"/>
            <a:ext cx="157330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Mining:Clustering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39232" y="2702178"/>
            <a:ext cx="7110740" cy="681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Conservative Spenders (14.6%):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$1.06M avg - High-value, focused spending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High-Value Users (29.2%): 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$639K avg - Most expense-heavy users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Frequent Transactors (35.4%): 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$844K avg - Most active, diverse spending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Premium Users (20.8%):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$1.81M avg - Ultra-high-value users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232" y="1357248"/>
            <a:ext cx="964760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K-means Clustering:4 User Segments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151959" y="2940303"/>
            <a:ext cx="9107341" cy="5475789"/>
          </a:xfrm>
          <a:custGeom>
            <a:avLst/>
            <a:gdLst/>
            <a:ahLst/>
            <a:cxnLst/>
            <a:rect r="r" b="b" t="t" l="l"/>
            <a:pathLst>
              <a:path h="5475789" w="9107341">
                <a:moveTo>
                  <a:pt x="0" y="0"/>
                </a:moveTo>
                <a:lnTo>
                  <a:pt x="9107341" y="0"/>
                </a:lnTo>
                <a:lnTo>
                  <a:pt x="9107341" y="5475789"/>
                </a:lnTo>
                <a:lnTo>
                  <a:pt x="0" y="54757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25321" y="1121674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1" y="0"/>
                </a:lnTo>
                <a:lnTo>
                  <a:pt x="15359471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49972" y="3010063"/>
            <a:ext cx="10132001" cy="4698715"/>
          </a:xfrm>
          <a:custGeom>
            <a:avLst/>
            <a:gdLst/>
            <a:ahLst/>
            <a:cxnLst/>
            <a:rect r="r" b="b" t="t" l="l"/>
            <a:pathLst>
              <a:path h="4698715" w="10132001">
                <a:moveTo>
                  <a:pt x="0" y="0"/>
                </a:moveTo>
                <a:lnTo>
                  <a:pt x="10132001" y="0"/>
                </a:lnTo>
                <a:lnTo>
                  <a:pt x="10132001" y="4698716"/>
                </a:lnTo>
                <a:lnTo>
                  <a:pt x="0" y="4698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4300"/>
            <a:ext cx="157330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Data Mining: ClassificationResults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9232" y="3127501"/>
            <a:ext cx="7110740" cy="407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35.5% accuracy vs 20% random baseline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 predictor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Transaction amount (55.4% importance)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behavior factors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17.7% combined importance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232" y="915797"/>
            <a:ext cx="16322563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Random Forest Classification: Transaction Categorization:</a:t>
            </a:r>
          </a:p>
          <a:p>
            <a:pPr algn="l">
              <a:lnSpc>
                <a:spcPts val="703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89508" y="1340610"/>
            <a:ext cx="1632256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25321" y="1121674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1" y="0"/>
                </a:lnTo>
                <a:lnTo>
                  <a:pt x="15359471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71583" y="1908300"/>
            <a:ext cx="7671393" cy="7719641"/>
          </a:xfrm>
          <a:custGeom>
            <a:avLst/>
            <a:gdLst/>
            <a:ahLst/>
            <a:cxnLst/>
            <a:rect r="r" b="b" t="t" l="l"/>
            <a:pathLst>
              <a:path h="7719641" w="7671393">
                <a:moveTo>
                  <a:pt x="0" y="0"/>
                </a:moveTo>
                <a:lnTo>
                  <a:pt x="7671393" y="0"/>
                </a:lnTo>
                <a:lnTo>
                  <a:pt x="7671393" y="7719641"/>
                </a:lnTo>
                <a:lnTo>
                  <a:pt x="0" y="7719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4300"/>
            <a:ext cx="157330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Mining: Association Rules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9232" y="3127501"/>
            <a:ext cx="7110740" cy="681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100% Confidence Rules: 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users transact in: Food + Rent + Utilities + Travel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Platform captures complete financial lives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Preferences by Category: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Food → UPI (25.2%) 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Rent → Cash (24.8%)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Travel → Card (25.2%) </a:t>
            </a:r>
          </a:p>
          <a:p>
            <a:pPr algn="l" marL="582930" indent="-291465" lvl="1">
              <a:lnSpc>
                <a:spcPts val="5427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Utilities → Bank Transfer (25.7%)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9508" y="897697"/>
            <a:ext cx="16322563" cy="171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Association Rule Mining: Universal Usage Discovery</a:t>
            </a:r>
          </a:p>
          <a:p>
            <a:pPr algn="l">
              <a:lnSpc>
                <a:spcPts val="703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66358" y="2172559"/>
            <a:ext cx="1632256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34655">
            <a:off x="-6325321" y="1121674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1" y="0"/>
                </a:lnTo>
                <a:lnTo>
                  <a:pt x="15359471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25222">
            <a:off x="-1345448" y="-2725149"/>
            <a:ext cx="4069911" cy="4114800"/>
          </a:xfrm>
          <a:custGeom>
            <a:avLst/>
            <a:gdLst/>
            <a:ahLst/>
            <a:cxnLst/>
            <a:rect r="r" b="b" t="t" l="l"/>
            <a:pathLst>
              <a:path h="4114800" w="4069911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173582">
            <a:off x="16151256" y="-1759251"/>
            <a:ext cx="7063773" cy="7141683"/>
          </a:xfrm>
          <a:custGeom>
            <a:avLst/>
            <a:gdLst/>
            <a:ahLst/>
            <a:cxnLst/>
            <a:rect r="r" b="b" t="t" l="l"/>
            <a:pathLst>
              <a:path h="7141683" w="706377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07350" y="1587629"/>
            <a:ext cx="9562516" cy="8498686"/>
          </a:xfrm>
          <a:custGeom>
            <a:avLst/>
            <a:gdLst/>
            <a:ahLst/>
            <a:cxnLst/>
            <a:rect r="r" b="b" t="t" l="l"/>
            <a:pathLst>
              <a:path h="8498686" w="9562516">
                <a:moveTo>
                  <a:pt x="0" y="0"/>
                </a:moveTo>
                <a:lnTo>
                  <a:pt x="9562516" y="0"/>
                </a:lnTo>
                <a:lnTo>
                  <a:pt x="9562516" y="8498686"/>
                </a:lnTo>
                <a:lnTo>
                  <a:pt x="0" y="8498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4300"/>
            <a:ext cx="15733096" cy="79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b="true" sz="60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Week Five: Insights and Storytelling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851379"/>
            <a:ext cx="0" cy="50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39232" y="1876746"/>
            <a:ext cx="7110740" cy="407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 Users to Optimise for Revenue 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Optimise for Weekend Spending</a:t>
            </a:r>
          </a:p>
          <a:p>
            <a:pPr algn="l" marL="582930" indent="-291465" lvl="1">
              <a:lnSpc>
                <a:spcPts val="5427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Optimise Payment Mode Based on Category Preferences</a:t>
            </a:r>
          </a:p>
          <a:p>
            <a:pPr algn="l">
              <a:lnSpc>
                <a:spcPts val="5427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39232" y="1019939"/>
            <a:ext cx="1632256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Actionable Business Insights: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4969521" y="-9852856"/>
            <a:ext cx="12704157" cy="13000542"/>
          </a:xfrm>
          <a:custGeom>
            <a:avLst/>
            <a:gdLst/>
            <a:ahLst/>
            <a:cxnLst/>
            <a:rect r="r" b="b" t="t" l="l"/>
            <a:pathLst>
              <a:path h="13000542" w="12704157">
                <a:moveTo>
                  <a:pt x="12704157" y="0"/>
                </a:moveTo>
                <a:lnTo>
                  <a:pt x="0" y="0"/>
                </a:lnTo>
                <a:lnTo>
                  <a:pt x="0" y="13000543"/>
                </a:lnTo>
                <a:lnTo>
                  <a:pt x="12704157" y="13000543"/>
                </a:lnTo>
                <a:lnTo>
                  <a:pt x="127041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993428">
            <a:off x="7363207" y="577593"/>
            <a:ext cx="15359471" cy="15080208"/>
          </a:xfrm>
          <a:custGeom>
            <a:avLst/>
            <a:gdLst/>
            <a:ahLst/>
            <a:cxnLst/>
            <a:rect r="r" b="b" t="t" l="l"/>
            <a:pathLst>
              <a:path h="15080208" w="15359471">
                <a:moveTo>
                  <a:pt x="0" y="0"/>
                </a:moveTo>
                <a:lnTo>
                  <a:pt x="15359471" y="0"/>
                </a:lnTo>
                <a:lnTo>
                  <a:pt x="15359471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13352" y="2335975"/>
            <a:ext cx="7145948" cy="5781721"/>
          </a:xfrm>
          <a:custGeom>
            <a:avLst/>
            <a:gdLst/>
            <a:ahLst/>
            <a:cxnLst/>
            <a:rect r="r" b="b" t="t" l="l"/>
            <a:pathLst>
              <a:path h="5781721" w="7145948">
                <a:moveTo>
                  <a:pt x="0" y="0"/>
                </a:moveTo>
                <a:lnTo>
                  <a:pt x="7145948" y="0"/>
                </a:lnTo>
                <a:lnTo>
                  <a:pt x="7145948" y="5781721"/>
                </a:lnTo>
                <a:lnTo>
                  <a:pt x="0" y="5781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9445" y="3800698"/>
            <a:ext cx="7595451" cy="1216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7"/>
              </a:lnSpc>
            </a:pPr>
            <a:r>
              <a:rPr lang="en-US" sz="91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79445" y="5224446"/>
            <a:ext cx="5998796" cy="160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Hopefully, this year's report can make our company even better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74378" y="1621778"/>
            <a:ext cx="4923444" cy="1141174"/>
          </a:xfrm>
          <a:custGeom>
            <a:avLst/>
            <a:gdLst/>
            <a:ahLst/>
            <a:cxnLst/>
            <a:rect r="r" b="b" t="t" l="l"/>
            <a:pathLst>
              <a:path h="1141174" w="4923444">
                <a:moveTo>
                  <a:pt x="0" y="0"/>
                </a:moveTo>
                <a:lnTo>
                  <a:pt x="4923444" y="0"/>
                </a:lnTo>
                <a:lnTo>
                  <a:pt x="4923444" y="1141174"/>
                </a:lnTo>
                <a:lnTo>
                  <a:pt x="0" y="1141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t="0" r="-89665" b="-71213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482822" y="6536964"/>
            <a:ext cx="3933299" cy="911675"/>
          </a:xfrm>
          <a:custGeom>
            <a:avLst/>
            <a:gdLst/>
            <a:ahLst/>
            <a:cxnLst/>
            <a:rect r="r" b="b" t="t" l="l"/>
            <a:pathLst>
              <a:path h="911675" w="3933299">
                <a:moveTo>
                  <a:pt x="0" y="0"/>
                </a:moveTo>
                <a:lnTo>
                  <a:pt x="3933299" y="0"/>
                </a:lnTo>
                <a:lnTo>
                  <a:pt x="3933299" y="911675"/>
                </a:lnTo>
                <a:lnTo>
                  <a:pt x="0" y="911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t="0" r="-89665" b="-712135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7039580" y="6097545"/>
            <a:ext cx="2477320" cy="2904445"/>
          </a:xfrm>
          <a:custGeom>
            <a:avLst/>
            <a:gdLst/>
            <a:ahLst/>
            <a:cxnLst/>
            <a:rect r="r" b="b" t="t" l="l"/>
            <a:pathLst>
              <a:path h="2904445" w="2477320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3548367">
            <a:off x="17325691" y="5741561"/>
            <a:ext cx="2477320" cy="2904445"/>
          </a:xfrm>
          <a:custGeom>
            <a:avLst/>
            <a:gdLst/>
            <a:ahLst/>
            <a:cxnLst/>
            <a:rect r="r" b="b" t="t" l="l"/>
            <a:pathLst>
              <a:path h="2904445" w="2477320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57745">
            <a:off x="1728509" y="9052623"/>
            <a:ext cx="6531409" cy="6683785"/>
          </a:xfrm>
          <a:custGeom>
            <a:avLst/>
            <a:gdLst/>
            <a:ahLst/>
            <a:cxnLst/>
            <a:rect r="r" b="b" t="t" l="l"/>
            <a:pathLst>
              <a:path h="6683785" w="6531409">
                <a:moveTo>
                  <a:pt x="6531409" y="0"/>
                </a:moveTo>
                <a:lnTo>
                  <a:pt x="0" y="0"/>
                </a:lnTo>
                <a:lnTo>
                  <a:pt x="0" y="6683785"/>
                </a:lnTo>
                <a:lnTo>
                  <a:pt x="6531409" y="6683785"/>
                </a:lnTo>
                <a:lnTo>
                  <a:pt x="65314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257745">
            <a:off x="16101223" y="-5047299"/>
            <a:ext cx="6531409" cy="6683785"/>
          </a:xfrm>
          <a:custGeom>
            <a:avLst/>
            <a:gdLst/>
            <a:ahLst/>
            <a:cxnLst/>
            <a:rect r="r" b="b" t="t" l="l"/>
            <a:pathLst>
              <a:path h="6683785" w="6531409">
                <a:moveTo>
                  <a:pt x="6531409" y="0"/>
                </a:moveTo>
                <a:lnTo>
                  <a:pt x="0" y="0"/>
                </a:lnTo>
                <a:lnTo>
                  <a:pt x="0" y="6683786"/>
                </a:lnTo>
                <a:lnTo>
                  <a:pt x="6531409" y="6683786"/>
                </a:lnTo>
                <a:lnTo>
                  <a:pt x="65314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DAG6pKl0m9o</dc:identifier>
  <dcterms:modified xsi:type="dcterms:W3CDTF">2011-08-01T06:04:30Z</dcterms:modified>
  <cp:revision>1</cp:revision>
  <dc:title>Personal Finance Capstone Project</dc:title>
</cp:coreProperties>
</file>